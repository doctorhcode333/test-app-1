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2" r:id="rId2"/>
    <p:sldId id="2563" r:id="rId3"/>
    <p:sldId id="2565" r:id="rId4"/>
    <p:sldId id="2569" r:id="rId5"/>
    <p:sldId id="2564" r:id="rId6"/>
    <p:sldId id="2566" r:id="rId7"/>
    <p:sldId id="2567" r:id="rId8"/>
    <p:sldId id="25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ys CI/CD Pipeline Using Terraform" id="{07C74EE4-C461-408F-9828-AC02CD694964}">
          <p14:sldIdLst/>
        </p14:section>
        <p14:section name="Genesys CI/CD Pipeline Using Terraform" id="{DED61EB4-3D5A-416A-A0E8-ABA70DFF715F}">
          <p14:sldIdLst>
            <p14:sldId id="2562"/>
            <p14:sldId id="2563"/>
            <p14:sldId id="2565"/>
            <p14:sldId id="2569"/>
            <p14:sldId id="2564"/>
            <p14:sldId id="2566"/>
            <p14:sldId id="2567"/>
            <p14:sldId id="25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A75411-CD4F-EBCA-B655-5DB75E4B2F15}" v="99" dt="2025-08-26T15:23:45.711"/>
    <p1510:client id="{E78987ED-2619-4A0E-9D38-CF2480F1BC67}" v="10" dt="2025-08-26T13:55:16.4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123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9744F-79F7-490F-A7FB-6A2C0BF0AA8F}" type="datetimeFigureOut">
              <a:t>02/09/2026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E9B86-4CC9-49E4-A946-C01BDC5A00AD}" type="slidenum">
              <a:t>‹#›</a:t>
            </a:fld>
            <a:endParaRPr lang="en-US"/>
          </a:p>
        </p:txBody>
      </p:sp>
    </p:spTree>
    <p:extLst>
      <p:ext uri="{BB962C8B-B14F-4D97-AF65-F5344CB8AC3E}">
        <p14:creationId xmlns:p14="http://schemas.microsoft.com/office/powerpoint/2010/main" val="1861314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oya0.sharepoint.com/sites/EnterpriseDataGovernance/_layouts/15/Doc.aspx?sourcedoc=%7B5759F2CB-C2FC-47BD-9FFD-9A8580815A43%7D&amp;file=TrainingDeck_Data_Accountability_022725.pptx&amp;action=edit&amp;mobileredirect=true&amp;DefaultItemOpen=1,https://voya0-my.sharepoint.com/personal/susanna_tem_voya_com/_layouts/15/Doc.aspx?sourcedoc=%7BEEBD2A96-79BB-441F-B765-D05FDFD4BEFA%7D&amp;file=New%20Design%20of%20Voya%20PAL%20STA%20Dashboard%20FINAL%201.pptx&amp;action=edit&amp;mobileredirect=true&amp;DefaultItemOpen=1
Overview, Initial Deployment Process, CI/CD Pipeline Flow Diagram, Terraform Behavior, Risks &amp; Considerations, Conclusion &amp; Roadmap
</a:t>
            </a:r>
          </a:p>
        </p:txBody>
      </p:sp>
      <p:sp>
        <p:nvSpPr>
          <p:cNvPr id="4" name="Slide Number Placeholder 3"/>
          <p:cNvSpPr>
            <a:spLocks noGrp="1"/>
          </p:cNvSpPr>
          <p:nvPr>
            <p:ph type="sldNum" sz="quarter" idx="5"/>
          </p:nvPr>
        </p:nvSpPr>
        <p:spPr/>
        <p:txBody>
          <a:bodyPr/>
          <a:lstStyle/>
          <a:p>
            <a:fld id="{C4D0F858-CAB9-4EC6-8802-D93E6F1DC7D7}" type="slidenum">
              <a:t>1</a:t>
            </a:fld>
            <a:endParaRPr lang="en-US"/>
          </a:p>
        </p:txBody>
      </p:sp>
    </p:spTree>
    <p:extLst>
      <p:ext uri="{BB962C8B-B14F-4D97-AF65-F5344CB8AC3E}">
        <p14:creationId xmlns:p14="http://schemas.microsoft.com/office/powerpoint/2010/main" val="2579756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oya0.sharepoint.com/sites/EnterpriseDataGovernance/_layouts/15/Doc.aspx?sourcedoc=%7B5759F2CB-C2FC-47BD-9FFD-9A8580815A43%7D&amp;file=TrainingDeck_Data_Accountability_022725.pptx&amp;action=edit&amp;mobileredirect=true&amp;DefaultItemOpen=1,https://voya0-my.sharepoint.com/personal/susanna_tem_voya_com/_layouts/15/Doc.aspx?sourcedoc=%7BEEBD2A96-79BB-441F-B765-D05FDFD4BEFA%7D&amp;file=New%20Design%20of%20Voya%20PAL%20STA%20Dashboard%20FINAL%201.pptx&amp;action=edit&amp;mobileredirect=true&amp;DefaultItemOpen=1
Automating Genesys Cloud deployments using Terraform introduces a robust CI/CD pipeline that ensures consistency, scalability, and automation across environments. This approach leverages Infrastructure as Code (IaC) principles, allowing teams to define and manage Genesys resources declaratively. By integrating GitHub Actions and Terraform Cloud, the deployment process becomes streamlined and repeatable. The pipeline orchestrates the promotion of configurations and flows from development to production environments, reducing manual intervention and minimizing errors. This methodology not only enhances operational efficiency but also aligns with modern DevOps practices, fostering collaboration and transparency among development and operations teams.
</a:t>
            </a:r>
          </a:p>
        </p:txBody>
      </p:sp>
      <p:sp>
        <p:nvSpPr>
          <p:cNvPr id="4" name="Slide Number Placeholder 3"/>
          <p:cNvSpPr>
            <a:spLocks noGrp="1"/>
          </p:cNvSpPr>
          <p:nvPr>
            <p:ph type="sldNum" sz="quarter" idx="5"/>
          </p:nvPr>
        </p:nvSpPr>
        <p:spPr/>
        <p:txBody>
          <a:bodyPr/>
          <a:lstStyle/>
          <a:p>
            <a:fld id="{C4D0F858-CAB9-4EC6-8802-D93E6F1DC7D7}" type="slidenum">
              <a:t>2</a:t>
            </a:fld>
            <a:endParaRPr lang="en-US"/>
          </a:p>
        </p:txBody>
      </p:sp>
    </p:spTree>
    <p:extLst>
      <p:ext uri="{BB962C8B-B14F-4D97-AF65-F5344CB8AC3E}">
        <p14:creationId xmlns:p14="http://schemas.microsoft.com/office/powerpoint/2010/main" val="2432216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oya0.sharepoint.com/sites/EnterpriseDataGovernance/_layouts/15/Doc.aspx?sourcedoc=%7B5759F2CB-C2FC-47BD-9FFD-9A8580815A43%7D&amp;file=TrainingDeck_Data_Accountability_022725.pptx&amp;action=edit&amp;mobileredirect=true&amp;DefaultItemOpen=1,https://voya0-my.sharepoint.com/personal/susanna_tem_voya_com/_layouts/15/Doc.aspx?sourcedoc=%7BEEBD2A96-79BB-441F-B765-D05FDFD4BEFA%7D&amp;file=New%20Design%20of%20Voya%20PAL%20STA%20Dashboard%20FINAL%201.pptx&amp;action=edit&amp;mobileredirect=true&amp;DefaultItemOpen=1
The CI/CD pipeline for Genesys Cloud using Terraform follows a structured flow: Genesys Dev Region → GitHub Actions → Terraform Cloud → Genesys Prod Region. This flow begins with changes made in the development region, which are committed to a GitHub repository. GitHub Actions then triggers workflows that interact with Terraform Cloud, applying configurations and deploying architect flows and dependencies. Finally, the changes are reflected in the Genesys production region. This diagrammatic representation emphasizes the automation and control embedded in the pipeline, ensuring that deployments are consistent and traceable across environments.
</a:t>
            </a:r>
          </a:p>
        </p:txBody>
      </p:sp>
      <p:sp>
        <p:nvSpPr>
          <p:cNvPr id="4" name="Slide Number Placeholder 3"/>
          <p:cNvSpPr>
            <a:spLocks noGrp="1"/>
          </p:cNvSpPr>
          <p:nvPr>
            <p:ph type="sldNum" sz="quarter" idx="5"/>
          </p:nvPr>
        </p:nvSpPr>
        <p:spPr/>
        <p:txBody>
          <a:bodyPr/>
          <a:lstStyle/>
          <a:p>
            <a:fld id="{C4D0F858-CAB9-4EC6-8802-D93E6F1DC7D7}" type="slidenum">
              <a:t>3</a:t>
            </a:fld>
            <a:endParaRPr lang="en-US"/>
          </a:p>
        </p:txBody>
      </p:sp>
    </p:spTree>
    <p:extLst>
      <p:ext uri="{BB962C8B-B14F-4D97-AF65-F5344CB8AC3E}">
        <p14:creationId xmlns:p14="http://schemas.microsoft.com/office/powerpoint/2010/main" val="1925532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oya0.sharepoint.com/sites/EnterpriseDataGovernance/_layouts/15/Doc.aspx?sourcedoc=%7B5759F2CB-C2FC-47BD-9FFD-9A8580815A43%7D&amp;file=TrainingDeck_Data_Accountability_022725.pptx&amp;action=edit&amp;mobileredirect=true&amp;DefaultItemOpen=1,https://voya0-my.sharepoint.com/personal/susanna_tem_voya_com/_layouts/15/Doc.aspx?sourcedoc=%7BEEBD2A96-79BB-441F-B765-D05FDFD4BEFA%7D&amp;file=New%20Design%20of%20Voya%20PAL%20STA%20Dashboard%20FINAL%201.pptx&amp;action=edit&amp;mobileredirect=true&amp;DefaultItemOpen=1
The initial deployment process begins with importing architect flows and their dependent resources from a lower Genesys region. This can be done manually or through a Terraform import module. Terraform then creates its own state file to track these resources. Once the state is established, Terraform proceeds to create the resources in the Genesys production environment. If resources with the same name already exist, they can be brought under Terraform management and subsequently overwritten. The deployment of architect flows is facilitated by Archy, a command-line tool that interacts with Genesys Cloud. For resource creation and updates, CX as Code modules are utilized, ensuring that all configurations are version-controlled and reproducible. This process lays the foundation for a reliable and maintainable infrastructure setup.
</a:t>
            </a:r>
          </a:p>
        </p:txBody>
      </p:sp>
      <p:sp>
        <p:nvSpPr>
          <p:cNvPr id="4" name="Slide Number Placeholder 3"/>
          <p:cNvSpPr>
            <a:spLocks noGrp="1"/>
          </p:cNvSpPr>
          <p:nvPr>
            <p:ph type="sldNum" sz="quarter" idx="5"/>
          </p:nvPr>
        </p:nvSpPr>
        <p:spPr/>
        <p:txBody>
          <a:bodyPr/>
          <a:lstStyle/>
          <a:p>
            <a:fld id="{C4D0F858-CAB9-4EC6-8802-D93E6F1DC7D7}" type="slidenum">
              <a:t>5</a:t>
            </a:fld>
            <a:endParaRPr lang="en-US"/>
          </a:p>
        </p:txBody>
      </p:sp>
    </p:spTree>
    <p:extLst>
      <p:ext uri="{BB962C8B-B14F-4D97-AF65-F5344CB8AC3E}">
        <p14:creationId xmlns:p14="http://schemas.microsoft.com/office/powerpoint/2010/main" val="1987178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oya0.sharepoint.com/sites/EnterpriseDataGovernance/_layouts/15/Doc.aspx?sourcedoc=%7B5759F2CB-C2FC-47BD-9FFD-9A8580815A43%7D&amp;file=TrainingDeck_Data_Accountability_022725.pptx&amp;action=edit&amp;mobileredirect=true&amp;DefaultItemOpen=1,https://voya0-my.sharepoint.com/personal/susanna_tem_voya_com/_layouts/15/Doc.aspx?sourcedoc=%7BEEBD2A96-79BB-441F-B765-D05FDFD4BEFA%7D&amp;file=New%20Design%20of%20Voya%20PAL%20STA%20Dashboard%20FINAL%201.pptx&amp;action=edit&amp;mobileredirect=true&amp;DefaultItemOpen=1
Terraform's behavior on subsequent runs is designed to ensure efficient and minimal updates. After the initial deployment, Terraform compares the current state of resources with the desired state defined in the configuration files. Only those resources that differ from the lower region are updated, reducing unnecessary changes and potential disruptions. This differential approach maintains consistency across environments and supports incremental updates. Terraform's state management ensures that all changes are tracked, and any drift from the desired configuration is corrected automatically. This behavior is crucial for maintaining a stable and predictable infrastructure setup in Genesys Cloud.
</a:t>
            </a:r>
          </a:p>
        </p:txBody>
      </p:sp>
      <p:sp>
        <p:nvSpPr>
          <p:cNvPr id="4" name="Slide Number Placeholder 3"/>
          <p:cNvSpPr>
            <a:spLocks noGrp="1"/>
          </p:cNvSpPr>
          <p:nvPr>
            <p:ph type="sldNum" sz="quarter" idx="5"/>
          </p:nvPr>
        </p:nvSpPr>
        <p:spPr/>
        <p:txBody>
          <a:bodyPr/>
          <a:lstStyle/>
          <a:p>
            <a:fld id="{C4D0F858-CAB9-4EC6-8802-D93E6F1DC7D7}" type="slidenum">
              <a:t>6</a:t>
            </a:fld>
            <a:endParaRPr lang="en-US"/>
          </a:p>
        </p:txBody>
      </p:sp>
    </p:spTree>
    <p:extLst>
      <p:ext uri="{BB962C8B-B14F-4D97-AF65-F5344CB8AC3E}">
        <p14:creationId xmlns:p14="http://schemas.microsoft.com/office/powerpoint/2010/main" val="3277278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oya0.sharepoint.com/sites/EnterpriseDataGovernance/_layouts/15/Doc.aspx?sourcedoc=%7B5759F2CB-C2FC-47BD-9FFD-9A8580815A43%7D&amp;file=TrainingDeck_Data_Accountability_022725.pptx&amp;action=edit&amp;mobileredirect=true&amp;DefaultItemOpen=1,https://voya0-my.sharepoint.com/personal/susanna_tem_voya_com/_layouts/15/Doc.aspx?sourcedoc=%7BEEBD2A96-79BB-441F-B765-D05FDFD4BEFA%7D&amp;file=New%20Design%20of%20Voya%20PAL%20STA%20Dashboard%20FINAL%201.pptx&amp;action=edit&amp;mobileredirect=true&amp;DefaultItemOpen=1
Implementing a CI/CD pipeline with Terraform for Genesys Cloud introduces several risks and considerations. First, the initial setup requires significant overhead, including configuring modules, state management, and integration points. Once resources are under Terraform management, all changes must be made through the pipeline to avoid conflicts. Direct modifications in the production environment will be overwritten by the version present in Terraform, potentially leading to loss of manual updates. Additionally, if the Terraform workspace containing the state is deleted, it can result in the deletion of all associated resources in Genesys. These risks necessitate careful planning, robust backup strategies, and strict governance to ensure infrastructure integrity and continuity.
</a:t>
            </a:r>
          </a:p>
        </p:txBody>
      </p:sp>
      <p:sp>
        <p:nvSpPr>
          <p:cNvPr id="4" name="Slide Number Placeholder 3"/>
          <p:cNvSpPr>
            <a:spLocks noGrp="1"/>
          </p:cNvSpPr>
          <p:nvPr>
            <p:ph type="sldNum" sz="quarter" idx="5"/>
          </p:nvPr>
        </p:nvSpPr>
        <p:spPr/>
        <p:txBody>
          <a:bodyPr/>
          <a:lstStyle/>
          <a:p>
            <a:fld id="{C4D0F858-CAB9-4EC6-8802-D93E6F1DC7D7}" type="slidenum">
              <a:t>7</a:t>
            </a:fld>
            <a:endParaRPr lang="en-US"/>
          </a:p>
        </p:txBody>
      </p:sp>
    </p:spTree>
    <p:extLst>
      <p:ext uri="{BB962C8B-B14F-4D97-AF65-F5344CB8AC3E}">
        <p14:creationId xmlns:p14="http://schemas.microsoft.com/office/powerpoint/2010/main" val="3261281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voya0.sharepoint.com/sites/EnterpriseDataGovernance/_layouts/15/Doc.aspx?sourcedoc=%7B5759F2CB-C2FC-47BD-9FFD-9A8580815A43%7D&amp;file=TrainingDeck_Data_Accountability_022725.pptx&amp;action=edit&amp;mobileredirect=true&amp;DefaultItemOpen=1,https://voya0-my.sharepoint.com/personal/susanna_tem_voya_com/_layouts/15/Doc.aspx?sourcedoc=%7BEEBD2A96-79BB-441F-B765-D05FDFD4BEFA%7D&amp;file=New%20Design%20of%20Voya%20PAL%20STA%20Dashboard%20FINAL%201.pptx&amp;action=edit&amp;mobileredirect=true&amp;DefaultItemOpen=1
The conclusion and ongoing development plan for the Genesys CI/CD pipeline using Terraform focuses on enhancing functionality and resilience. Key initiatives include testing the import module for both resources and architect flows to ensure reliability. Developing an interface that allows users to select specific flows and trigger the pipeline will improve usability and flexibility. Further research into edge cases and potential risks will inform the creation of a comprehensive backup and implementation plan. As part of the roadmap, decisions must be made regarding the granularity of control—whether changes can be applied at the division level, for specific classes of flows, or individual flows. These steps will ensure that the pipeline remains robust, scalable, and aligned with organizational needs.
</a:t>
            </a:r>
          </a:p>
        </p:txBody>
      </p:sp>
      <p:sp>
        <p:nvSpPr>
          <p:cNvPr id="4" name="Slide Number Placeholder 3"/>
          <p:cNvSpPr>
            <a:spLocks noGrp="1"/>
          </p:cNvSpPr>
          <p:nvPr>
            <p:ph type="sldNum" sz="quarter" idx="5"/>
          </p:nvPr>
        </p:nvSpPr>
        <p:spPr/>
        <p:txBody>
          <a:bodyPr/>
          <a:lstStyle/>
          <a:p>
            <a:fld id="{C4D0F858-CAB9-4EC6-8802-D93E6F1DC7D7}" type="slidenum">
              <a:t>8</a:t>
            </a:fld>
            <a:endParaRPr lang="en-US"/>
          </a:p>
        </p:txBody>
      </p:sp>
    </p:spTree>
    <p:extLst>
      <p:ext uri="{BB962C8B-B14F-4D97-AF65-F5344CB8AC3E}">
        <p14:creationId xmlns:p14="http://schemas.microsoft.com/office/powerpoint/2010/main" val="39817969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02/09/2026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25455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112205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02/09/2026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603865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02/09/2026</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77261463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02/09/2026</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05044637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02/09/2026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736965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02/09/2026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097235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02/09/2026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6423709"/>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02/09/2026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346681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02/09/2026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6295273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02/09/2026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020777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02/09/2026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811746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54789602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496704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902881"/>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8711385"/>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875573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2425320"/>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624425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56317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84453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449467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2085521"/>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7660681"/>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831187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7225316"/>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02/09/2026</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0514047"/>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4739274"/>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665883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025394559"/>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92059870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8016914"/>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02/09/2026</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15274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02/09/2026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19876736"/>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02/09/2026</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8651311"/>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02/09/2026</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258520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02/09/2026</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3930426"/>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02/09/2026</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85374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02/09/2026</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2574288"/>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02/09/2026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08487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02/09/2026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9884006"/>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02/09/2026</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8973490"/>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02/09/2026</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3488457"/>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02/09/2026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4769115"/>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02/09/2026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489959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02/09/2026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038917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02/09/2026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1457505"/>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02/09/2026</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2178858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02/09/2026</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88902182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02/09/2026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78040441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02/09/2026</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6317617"/>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02/09/2026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7513675"/>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02/09/2026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240122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02/09/2026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a:p>
        </p:txBody>
      </p:sp>
    </p:spTree>
    <p:extLst>
      <p:ext uri="{BB962C8B-B14F-4D97-AF65-F5344CB8AC3E}">
        <p14:creationId xmlns:p14="http://schemas.microsoft.com/office/powerpoint/2010/main" val="40862792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CA656-9466-CE97-FF96-7BCDB97C4793}"/>
              </a:ext>
            </a:extLst>
          </p:cNvPr>
          <p:cNvSpPr>
            <a:spLocks noGrp="1"/>
          </p:cNvSpPr>
          <p:nvPr>
            <p:ph type="title"/>
          </p:nvPr>
        </p:nvSpPr>
        <p:spPr>
          <a:xfrm>
            <a:off x="426997" y="3018408"/>
            <a:ext cx="10533500" cy="3247475"/>
          </a:xfrm>
        </p:spPr>
        <p:txBody>
          <a:bodyPr anchor="b">
            <a:normAutofit/>
          </a:bodyPr>
          <a:lstStyle/>
          <a:p>
            <a:r>
              <a:rPr lang="en-US" dirty="0"/>
              <a:t>Genesys CI/CD Pipeline Using Terraform CLOUD</a:t>
            </a:r>
          </a:p>
        </p:txBody>
      </p:sp>
    </p:spTree>
    <p:extLst>
      <p:ext uri="{BB962C8B-B14F-4D97-AF65-F5344CB8AC3E}">
        <p14:creationId xmlns:p14="http://schemas.microsoft.com/office/powerpoint/2010/main" val="16370628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7F003-F1DB-5CD0-B261-3CBC9C096D22}"/>
              </a:ext>
            </a:extLst>
          </p:cNvPr>
          <p:cNvSpPr>
            <a:spLocks noGrp="1"/>
          </p:cNvSpPr>
          <p:nvPr>
            <p:ph type="title"/>
          </p:nvPr>
        </p:nvSpPr>
        <p:spPr>
          <a:xfrm>
            <a:off x="4977971" y="691866"/>
            <a:ext cx="6680630" cy="1217337"/>
          </a:xfrm>
        </p:spPr>
        <p:txBody>
          <a:bodyPr anchor="t">
            <a:normAutofit/>
          </a:bodyPr>
          <a:lstStyle/>
          <a:p>
            <a:r>
              <a:rPr lang="en-US"/>
              <a:t>Overview</a:t>
            </a:r>
          </a:p>
        </p:txBody>
      </p:sp>
      <p:pic>
        <p:nvPicPr>
          <p:cNvPr id="5" name="Content Placeholder 4" descr="Cloud computing concept isolated on white background">
            <a:extLst>
              <a:ext uri="{FF2B5EF4-FFF2-40B4-BE49-F238E27FC236}">
                <a16:creationId xmlns:a16="http://schemas.microsoft.com/office/drawing/2014/main" id="{3E3A6BC7-D289-48A4-9F26-5B332DF03968}"/>
              </a:ext>
            </a:extLst>
          </p:cNvPr>
          <p:cNvPicPr>
            <a:picLocks noGrp="1" noChangeAspect="1"/>
          </p:cNvPicPr>
          <p:nvPr>
            <p:ph type="pic" sz="quarter" idx="13"/>
          </p:nvPr>
        </p:nvPicPr>
        <p:blipFill>
          <a:blip r:embed="rId3"/>
          <a:srcRect l="23915" r="25935"/>
          <a:stretch>
            <a:fillRect/>
          </a:stretch>
        </p:blipFill>
        <p:spPr>
          <a:xfrm>
            <a:off x="533400" y="533400"/>
            <a:ext cx="3886200" cy="5811924"/>
          </a:xfrm>
          <a:prstGeom prst="rect">
            <a:avLst/>
          </a:prstGeom>
          <a:noFill/>
        </p:spPr>
      </p:pic>
      <p:sp>
        <p:nvSpPr>
          <p:cNvPr id="4" name="Content Placeholder 3">
            <a:extLst>
              <a:ext uri="{FF2B5EF4-FFF2-40B4-BE49-F238E27FC236}">
                <a16:creationId xmlns:a16="http://schemas.microsoft.com/office/drawing/2014/main" id="{83225508-32F4-2CD2-56B1-41F2A0933F3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7971" y="1710517"/>
            <a:ext cx="6680630" cy="4313902"/>
          </a:xfrm>
        </p:spPr>
        <p:txBody>
          <a:bodyPr vert="horz" lIns="91440" tIns="45720" rIns="91440" bIns="45720" rtlCol="0" anchor="t">
            <a:normAutofit/>
          </a:bodyPr>
          <a:lstStyle/>
          <a:p>
            <a:pPr marL="0" indent="0">
              <a:lnSpc>
                <a:spcPct val="110000"/>
              </a:lnSpc>
              <a:spcBef>
                <a:spcPts val="2500"/>
              </a:spcBef>
              <a:buNone/>
            </a:pPr>
            <a:br>
              <a:rPr lang="en-US" b="1" dirty="0"/>
            </a:br>
            <a:r>
              <a:rPr lang="en-US" sz="1600" b="1" dirty="0"/>
              <a:t>CI/CD Pipeline Integration</a:t>
            </a:r>
            <a:endParaRPr lang="en-US" sz="1600" dirty="0"/>
          </a:p>
          <a:p>
            <a:pPr marL="0" lvl="1" indent="0">
              <a:lnSpc>
                <a:spcPct val="110000"/>
              </a:lnSpc>
              <a:buNone/>
            </a:pPr>
            <a:r>
              <a:rPr lang="en-US" sz="1600" dirty="0"/>
              <a:t>GitHub Actions and Terraform Cloud streamline the deployment process, making it repeatable and efficient.</a:t>
            </a:r>
            <a:br>
              <a:rPr lang="en-US" sz="1600" b="1" dirty="0"/>
            </a:br>
            <a:endParaRPr lang="en-US" sz="1600" dirty="0"/>
          </a:p>
          <a:p>
            <a:pPr marL="0" lvl="1" indent="0">
              <a:lnSpc>
                <a:spcPct val="110000"/>
              </a:lnSpc>
              <a:buNone/>
            </a:pPr>
            <a:br>
              <a:rPr lang="en-US" sz="1600" b="1" dirty="0"/>
            </a:br>
            <a:r>
              <a:rPr lang="en-US" sz="1600" b="1" dirty="0"/>
              <a:t>Infrastructure as Code (CX as CODE)</a:t>
            </a:r>
            <a:endParaRPr lang="en-US" sz="1600" dirty="0"/>
          </a:p>
          <a:p>
            <a:pPr marL="0" lvl="1" indent="0">
              <a:lnSpc>
                <a:spcPct val="110000"/>
              </a:lnSpc>
              <a:buFont typeface="Arial" panose="020B0604020202020204" pitchFamily="34" charset="0"/>
              <a:buNone/>
            </a:pPr>
            <a:r>
              <a:rPr sz="1600" dirty="0"/>
              <a:t>Terraform enables declarative management of Genesys Cloud resources, improving deployment consistency.</a:t>
            </a:r>
            <a:endParaRPr lang="en-US" sz="1600" dirty="0"/>
          </a:p>
          <a:p>
            <a:pPr marL="0" lvl="1" indent="0">
              <a:lnSpc>
                <a:spcPct val="110000"/>
              </a:lnSpc>
              <a:buNone/>
            </a:pPr>
            <a:endParaRPr lang="en-US" sz="1600" dirty="0"/>
          </a:p>
          <a:p>
            <a:pPr marL="0" indent="0">
              <a:lnSpc>
                <a:spcPct val="110000"/>
              </a:lnSpc>
              <a:spcBef>
                <a:spcPts val="2500"/>
              </a:spcBef>
              <a:buFont typeface="Arial" panose="020B0604020202020204" pitchFamily="34" charset="0"/>
              <a:buNone/>
            </a:pPr>
            <a:r>
              <a:rPr lang="en-US" sz="1600" b="1" dirty="0"/>
              <a:t>Environment Promotion</a:t>
            </a:r>
          </a:p>
          <a:p>
            <a:pPr marL="0" lvl="1" indent="0">
              <a:lnSpc>
                <a:spcPct val="110000"/>
              </a:lnSpc>
              <a:buFont typeface="Arial" panose="020B0604020202020204" pitchFamily="34" charset="0"/>
              <a:buNone/>
            </a:pPr>
            <a:r>
              <a:rPr sz="1600" dirty="0"/>
              <a:t>The pipeline promotes configurations from development to production, reducing manual errors.</a:t>
            </a:r>
            <a:endParaRPr lang="en-US" sz="1600" dirty="0"/>
          </a:p>
        </p:txBody>
      </p:sp>
    </p:spTree>
    <p:extLst>
      <p:ext uri="{BB962C8B-B14F-4D97-AF65-F5344CB8AC3E}">
        <p14:creationId xmlns:p14="http://schemas.microsoft.com/office/powerpoint/2010/main" val="33866074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01D9B-228C-5D99-030C-FC9B49F8A9D5}"/>
              </a:ext>
            </a:extLst>
          </p:cNvPr>
          <p:cNvSpPr>
            <a:spLocks noGrp="1"/>
          </p:cNvSpPr>
          <p:nvPr>
            <p:ph type="title"/>
          </p:nvPr>
        </p:nvSpPr>
        <p:spPr>
          <a:xfrm>
            <a:off x="399679" y="332308"/>
            <a:ext cx="11253667" cy="909921"/>
          </a:xfrm>
        </p:spPr>
        <p:txBody>
          <a:bodyPr anchor="b">
            <a:normAutofit/>
          </a:bodyPr>
          <a:lstStyle/>
          <a:p>
            <a:r>
              <a:rPr lang="en-US" dirty="0"/>
              <a:t>CI/CD Pipeline Flow </a:t>
            </a:r>
          </a:p>
        </p:txBody>
      </p:sp>
      <p:graphicFrame>
        <p:nvGraphicFramePr>
          <p:cNvPr id="5" name="Content Placeholder 4">
            <a:extLst>
              <a:ext uri="{FF2B5EF4-FFF2-40B4-BE49-F238E27FC236}">
                <a16:creationId xmlns:a16="http://schemas.microsoft.com/office/drawing/2014/main" id="{D7171D5B-C9EE-4163-A890-F842C43B28AD}"/>
              </a:ext>
            </a:extLst>
          </p:cNvPr>
          <p:cNvGraphicFramePr>
            <a:graphicFrameLocks noGrp="1"/>
          </p:cNvGraphicFramePr>
          <p:nvPr>
            <p:ph idx="1"/>
            <p:extLst>
              <p:ext uri="{D42A27DB-BD31-4B8C-83A1-F6EECF244321}">
                <p14:modId xmlns:p14="http://schemas.microsoft.com/office/powerpoint/2010/main" val="2906139374"/>
              </p:ext>
            </p:extLst>
          </p:nvPr>
        </p:nvGraphicFramePr>
        <p:xfrm>
          <a:off x="858908" y="1488931"/>
          <a:ext cx="10340525" cy="4700764"/>
        </p:xfrm>
        <a:graphic>
          <a:graphicData uri="http://schemas.openxmlformats.org/drawingml/2006/table">
            <a:tbl>
              <a:tblPr firstRow="1" bandRow="1">
                <a:noFill/>
                <a:tableStyleId>{5C22544A-7EE6-4342-B048-85BDC9FD1C3A}</a:tableStyleId>
              </a:tblPr>
              <a:tblGrid>
                <a:gridCol w="3828011">
                  <a:extLst>
                    <a:ext uri="{9D8B030D-6E8A-4147-A177-3AD203B41FA5}">
                      <a16:colId xmlns:a16="http://schemas.microsoft.com/office/drawing/2014/main" val="758774053"/>
                    </a:ext>
                  </a:extLst>
                </a:gridCol>
                <a:gridCol w="6512514">
                  <a:extLst>
                    <a:ext uri="{9D8B030D-6E8A-4147-A177-3AD203B41FA5}">
                      <a16:colId xmlns:a16="http://schemas.microsoft.com/office/drawing/2014/main" val="3639490799"/>
                    </a:ext>
                  </a:extLst>
                </a:gridCol>
              </a:tblGrid>
              <a:tr h="1006516">
                <a:tc>
                  <a:txBody>
                    <a:bodyPr/>
                    <a:lstStyle/>
                    <a:p>
                      <a:pPr>
                        <a:buNone/>
                      </a:pPr>
                      <a:r>
                        <a:rPr lang="en-US" sz="2900" b="1" cap="all" spc="150" dirty="0">
                          <a:solidFill>
                            <a:schemeClr val="tx1"/>
                          </a:solidFill>
                        </a:rPr>
                        <a:t>Stage</a:t>
                      </a:r>
                    </a:p>
                  </a:txBody>
                  <a:tcPr marL="248864" marR="248864" marT="248864" marB="248864"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900" b="1" cap="all" spc="150" dirty="0">
                          <a:solidFill>
                            <a:schemeClr val="tx1"/>
                          </a:solidFill>
                        </a:rPr>
                        <a:t>Description</a:t>
                      </a:r>
                    </a:p>
                  </a:txBody>
                  <a:tcPr marL="248864" marR="248864" marT="248864" marB="248864"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2002752328"/>
                  </a:ext>
                </a:extLst>
              </a:tr>
              <a:tr h="923562">
                <a:tc>
                  <a:txBody>
                    <a:bodyPr/>
                    <a:lstStyle/>
                    <a:p>
                      <a:pPr>
                        <a:buNone/>
                      </a:pPr>
                      <a:r>
                        <a:rPr lang="en-US" sz="2400" b="1" cap="none" spc="0" dirty="0">
                          <a:solidFill>
                            <a:schemeClr val="tx1"/>
                          </a:solidFill>
                        </a:rPr>
                        <a:t>1] Genesys Dev Region</a:t>
                      </a:r>
                    </a:p>
                  </a:txBody>
                  <a:tcPr marL="248864" marR="248864" marT="248864" marB="248864"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2400" cap="none" spc="0" dirty="0">
                          <a:solidFill>
                            <a:schemeClr val="tx1"/>
                          </a:solidFill>
                        </a:rPr>
                        <a:t>Source of architect flows and configurations</a:t>
                      </a:r>
                    </a:p>
                  </a:txBody>
                  <a:tcPr marL="248864" marR="248864" marT="248864" marB="248864"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28228122"/>
                  </a:ext>
                </a:extLst>
              </a:tr>
              <a:tr h="923562">
                <a:tc>
                  <a:txBody>
                    <a:bodyPr/>
                    <a:lstStyle/>
                    <a:p>
                      <a:pPr>
                        <a:buNone/>
                      </a:pPr>
                      <a:r>
                        <a:rPr lang="en-US" sz="2400" b="1" cap="none" spc="0" dirty="0">
                          <a:solidFill>
                            <a:schemeClr val="tx1"/>
                          </a:solidFill>
                        </a:rPr>
                        <a:t>2] GitHub Actions</a:t>
                      </a:r>
                    </a:p>
                  </a:txBody>
                  <a:tcPr marL="248864" marR="248864" marT="248864" marB="24886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400" cap="none" spc="0" dirty="0">
                          <a:solidFill>
                            <a:schemeClr val="tx1"/>
                          </a:solidFill>
                        </a:rPr>
                        <a:t>Triggers CI workflows for deployment</a:t>
                      </a:r>
                    </a:p>
                  </a:txBody>
                  <a:tcPr marL="248864" marR="248864" marT="248864" marB="24886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940941557"/>
                  </a:ext>
                </a:extLst>
              </a:tr>
              <a:tr h="923562">
                <a:tc>
                  <a:txBody>
                    <a:bodyPr/>
                    <a:lstStyle/>
                    <a:p>
                      <a:pPr>
                        <a:buNone/>
                      </a:pPr>
                      <a:r>
                        <a:rPr lang="en-US" sz="2400" b="1" cap="none" spc="0" dirty="0">
                          <a:solidFill>
                            <a:schemeClr val="tx1"/>
                          </a:solidFill>
                        </a:rPr>
                        <a:t>3] Terraform Cloud</a:t>
                      </a:r>
                    </a:p>
                  </a:txBody>
                  <a:tcPr marL="248864" marR="248864" marT="248864" marB="24886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400" cap="none" spc="0" dirty="0">
                          <a:solidFill>
                            <a:schemeClr val="tx1"/>
                          </a:solidFill>
                        </a:rPr>
                        <a:t>Applies configurations and manages state</a:t>
                      </a:r>
                    </a:p>
                  </a:txBody>
                  <a:tcPr marL="248864" marR="248864" marT="248864" marB="24886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549032510"/>
                  </a:ext>
                </a:extLst>
              </a:tr>
              <a:tr h="923562">
                <a:tc>
                  <a:txBody>
                    <a:bodyPr/>
                    <a:lstStyle/>
                    <a:p>
                      <a:pPr>
                        <a:buNone/>
                      </a:pPr>
                      <a:r>
                        <a:rPr lang="en-US" sz="2400" b="1" cap="none" spc="0" dirty="0">
                          <a:solidFill>
                            <a:schemeClr val="tx1"/>
                          </a:solidFill>
                        </a:rPr>
                        <a:t>4] Genesys Prod Region</a:t>
                      </a:r>
                    </a:p>
                  </a:txBody>
                  <a:tcPr marL="248864" marR="248864" marT="248864" marB="248864"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2400" b="0" cap="none" spc="0" dirty="0">
                          <a:solidFill>
                            <a:schemeClr val="tx1"/>
                          </a:solidFill>
                        </a:rPr>
                        <a:t>Target environment for final deployment</a:t>
                      </a:r>
                    </a:p>
                  </a:txBody>
                  <a:tcPr marL="248864" marR="248864" marT="248864" marB="248864"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2766225479"/>
                  </a:ext>
                </a:extLst>
              </a:tr>
            </a:tbl>
          </a:graphicData>
        </a:graphic>
      </p:graphicFrame>
    </p:spTree>
    <p:extLst>
      <p:ext uri="{BB962C8B-B14F-4D97-AF65-F5344CB8AC3E}">
        <p14:creationId xmlns:p14="http://schemas.microsoft.com/office/powerpoint/2010/main" val="209956512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DD6D-2949-A7E1-6467-4A2D274CC3DE}"/>
              </a:ext>
            </a:extLst>
          </p:cNvPr>
          <p:cNvSpPr>
            <a:spLocks noGrp="1"/>
          </p:cNvSpPr>
          <p:nvPr>
            <p:ph type="ctrTitle"/>
          </p:nvPr>
        </p:nvSpPr>
        <p:spPr>
          <a:xfrm>
            <a:off x="402336" y="765750"/>
            <a:ext cx="9635668" cy="3528339"/>
          </a:xfrm>
        </p:spPr>
        <p:txBody>
          <a:bodyPr anchor="t">
            <a:normAutofit/>
          </a:bodyPr>
          <a:lstStyle/>
          <a:p>
            <a:r>
              <a:rPr lang="en-US" dirty="0"/>
              <a:t>DEMO</a:t>
            </a:r>
          </a:p>
        </p:txBody>
      </p:sp>
    </p:spTree>
    <p:extLst>
      <p:ext uri="{BB962C8B-B14F-4D97-AF65-F5344CB8AC3E}">
        <p14:creationId xmlns:p14="http://schemas.microsoft.com/office/powerpoint/2010/main" val="1292018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B6A83-143C-73B7-241B-20C977DB41C0}"/>
              </a:ext>
            </a:extLst>
          </p:cNvPr>
          <p:cNvSpPr>
            <a:spLocks noGrp="1"/>
          </p:cNvSpPr>
          <p:nvPr>
            <p:ph type="title"/>
          </p:nvPr>
        </p:nvSpPr>
        <p:spPr>
          <a:xfrm>
            <a:off x="8029814" y="512011"/>
            <a:ext cx="3628786" cy="1259920"/>
          </a:xfrm>
        </p:spPr>
        <p:txBody>
          <a:bodyPr anchor="b">
            <a:normAutofit/>
          </a:bodyPr>
          <a:lstStyle/>
          <a:p>
            <a:r>
              <a:rPr lang="en-US" sz="3000"/>
              <a:t>Initial Deployment Process</a:t>
            </a:r>
          </a:p>
        </p:txBody>
      </p:sp>
      <p:pic>
        <p:nvPicPr>
          <p:cNvPr id="5" name="Content Placeholder 4" descr="Cloud computing digital concept">
            <a:extLst>
              <a:ext uri="{FF2B5EF4-FFF2-40B4-BE49-F238E27FC236}">
                <a16:creationId xmlns:a16="http://schemas.microsoft.com/office/drawing/2014/main" id="{D4B5BC92-D652-4575-B7A1-3BDC9288EAFC}"/>
              </a:ext>
            </a:extLst>
          </p:cNvPr>
          <p:cNvPicPr>
            <a:picLocks noGrp="1" noChangeAspect="1"/>
          </p:cNvPicPr>
          <p:nvPr>
            <p:ph type="pic" sz="quarter" idx="13"/>
          </p:nvPr>
        </p:nvPicPr>
        <p:blipFill>
          <a:blip r:embed="rId3"/>
          <a:srcRect l="28707" r="2462" b="1"/>
          <a:stretch>
            <a:fillRect/>
          </a:stretch>
        </p:blipFill>
        <p:spPr>
          <a:xfrm>
            <a:off x="533400" y="533399"/>
            <a:ext cx="7086600" cy="5791199"/>
          </a:xfrm>
          <a:prstGeom prst="rect">
            <a:avLst/>
          </a:prstGeom>
          <a:noFill/>
        </p:spPr>
      </p:pic>
      <p:sp>
        <p:nvSpPr>
          <p:cNvPr id="4" name="Content Placeholder 3">
            <a:extLst>
              <a:ext uri="{FF2B5EF4-FFF2-40B4-BE49-F238E27FC236}">
                <a16:creationId xmlns:a16="http://schemas.microsoft.com/office/drawing/2014/main" id="{0497DF84-6A7D-E54A-5562-050B73EFDF8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spcBef>
                <a:spcPts val="2500"/>
              </a:spcBef>
              <a:buFont typeface="Arial" panose="020B0604020202020204" pitchFamily="34" charset="0"/>
              <a:buNone/>
            </a:pPr>
            <a:r>
              <a:rPr lang="en-US" b="1"/>
              <a:t>Resource Import and State Management</a:t>
            </a:r>
          </a:p>
          <a:p>
            <a:pPr marL="0" lvl="1" indent="0">
              <a:buFont typeface="Arial" panose="020B0604020202020204" pitchFamily="34" charset="0"/>
              <a:buNone/>
            </a:pPr>
            <a:r>
              <a:t>Terraform imports architect flows and dependent resources, creating a state file to track them accurately.</a:t>
            </a:r>
            <a:endParaRPr lang="en-US"/>
          </a:p>
          <a:p>
            <a:pPr marL="0" indent="0">
              <a:spcBef>
                <a:spcPts val="2500"/>
              </a:spcBef>
              <a:buFont typeface="Arial" panose="020B0604020202020204" pitchFamily="34" charset="0"/>
              <a:buNone/>
            </a:pPr>
            <a:r>
              <a:rPr lang="en-US" b="1"/>
              <a:t>Resource Creation in Production</a:t>
            </a:r>
          </a:p>
          <a:p>
            <a:pPr marL="0" lvl="1" indent="0">
              <a:buFont typeface="Arial" panose="020B0604020202020204" pitchFamily="34" charset="0"/>
              <a:buNone/>
            </a:pPr>
            <a:r>
              <a:t>Terraform creates or manages existing resources in the production environment, ensuring consistency and control.</a:t>
            </a:r>
            <a:endParaRPr lang="en-US"/>
          </a:p>
          <a:p>
            <a:pPr marL="0" indent="0">
              <a:spcBef>
                <a:spcPts val="2500"/>
              </a:spcBef>
              <a:buFont typeface="Arial" panose="020B0604020202020204" pitchFamily="34" charset="0"/>
              <a:buNone/>
            </a:pPr>
            <a:r>
              <a:rPr lang="en-US" b="1"/>
              <a:t>Deployment Tools and Version Control</a:t>
            </a:r>
          </a:p>
          <a:p>
            <a:pPr marL="0" lvl="1" indent="0">
              <a:buFont typeface="Arial" panose="020B0604020202020204" pitchFamily="34" charset="0"/>
              <a:buNone/>
            </a:pPr>
            <a:r>
              <a:t>Archy CLI deploys architect flows while CX as Code modules enable version-controlled, reproducible configurations.</a:t>
            </a:r>
            <a:endParaRPr lang="en-US"/>
          </a:p>
        </p:txBody>
      </p:sp>
    </p:spTree>
    <p:extLst>
      <p:ext uri="{BB962C8B-B14F-4D97-AF65-F5344CB8AC3E}">
        <p14:creationId xmlns:p14="http://schemas.microsoft.com/office/powerpoint/2010/main" val="24228061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EDA2-E103-C1BC-C392-F9E1EFDE421C}"/>
              </a:ext>
            </a:extLst>
          </p:cNvPr>
          <p:cNvSpPr>
            <a:spLocks noGrp="1"/>
          </p:cNvSpPr>
          <p:nvPr>
            <p:ph type="title"/>
          </p:nvPr>
        </p:nvSpPr>
        <p:spPr>
          <a:xfrm>
            <a:off x="8029814" y="512011"/>
            <a:ext cx="3628786" cy="1259920"/>
          </a:xfrm>
        </p:spPr>
        <p:txBody>
          <a:bodyPr anchor="b">
            <a:normAutofit/>
          </a:bodyPr>
          <a:lstStyle/>
          <a:p>
            <a:r>
              <a:rPr lang="en-US"/>
              <a:t>Terraform Behavior</a:t>
            </a:r>
          </a:p>
        </p:txBody>
      </p:sp>
      <p:pic>
        <p:nvPicPr>
          <p:cNvPr id="5" name="Content Placeholder 4" descr="Cloud shaped hard drive with cables">
            <a:extLst>
              <a:ext uri="{FF2B5EF4-FFF2-40B4-BE49-F238E27FC236}">
                <a16:creationId xmlns:a16="http://schemas.microsoft.com/office/drawing/2014/main" id="{693354E0-3CC3-479B-B541-A53E45F7E328}"/>
              </a:ext>
            </a:extLst>
          </p:cNvPr>
          <p:cNvPicPr>
            <a:picLocks noGrp="1" noChangeAspect="1"/>
          </p:cNvPicPr>
          <p:nvPr>
            <p:ph type="pic" sz="quarter" idx="13"/>
          </p:nvPr>
        </p:nvPicPr>
        <p:blipFill>
          <a:blip r:embed="rId3"/>
          <a:stretch/>
        </p:blipFill>
        <p:spPr>
          <a:xfrm>
            <a:off x="533400" y="1143222"/>
            <a:ext cx="5102981" cy="3325742"/>
          </a:xfrm>
          <a:prstGeom prst="rect">
            <a:avLst/>
          </a:prstGeom>
          <a:noFill/>
        </p:spPr>
      </p:pic>
      <p:sp>
        <p:nvSpPr>
          <p:cNvPr id="4" name="Content Placeholder 3">
            <a:extLst>
              <a:ext uri="{FF2B5EF4-FFF2-40B4-BE49-F238E27FC236}">
                <a16:creationId xmlns:a16="http://schemas.microsoft.com/office/drawing/2014/main" id="{ABC442DD-B0AB-B93E-E7ED-2754BC28B2C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732" y="2170611"/>
            <a:ext cx="5564024" cy="4162372"/>
          </a:xfrm>
        </p:spPr>
        <p:txBody>
          <a:bodyPr vert="horz" lIns="91440" tIns="45720" rIns="91440" bIns="45720" rtlCol="0" anchor="t">
            <a:normAutofit/>
          </a:bodyPr>
          <a:lstStyle/>
          <a:p>
            <a:pPr marL="0" indent="0">
              <a:lnSpc>
                <a:spcPct val="110000"/>
              </a:lnSpc>
              <a:spcBef>
                <a:spcPts val="2500"/>
              </a:spcBef>
              <a:buFont typeface="Arial" panose="020B0604020202020204" pitchFamily="34" charset="0"/>
              <a:buNone/>
            </a:pPr>
            <a:r>
              <a:rPr lang="en-US" b="1" dirty="0"/>
              <a:t>Efficient Incremental Updates</a:t>
            </a:r>
          </a:p>
          <a:p>
            <a:pPr marL="0" lvl="1" indent="0">
              <a:lnSpc>
                <a:spcPct val="110000"/>
              </a:lnSpc>
              <a:buFont typeface="Arial" panose="020B0604020202020204" pitchFamily="34" charset="0"/>
              <a:buNone/>
            </a:pPr>
            <a:r>
              <a:rPr lang="en-US" dirty="0"/>
              <a:t>Terraform updates only resources that differ from the desired state, minimizing disruptions and unnecessary changes.</a:t>
            </a:r>
          </a:p>
          <a:p>
            <a:pPr marL="0" indent="0">
              <a:lnSpc>
                <a:spcPct val="110000"/>
              </a:lnSpc>
              <a:spcBef>
                <a:spcPts val="2500"/>
              </a:spcBef>
              <a:buFont typeface="Arial" panose="020B0604020202020204" pitchFamily="34" charset="0"/>
              <a:buNone/>
            </a:pPr>
            <a:r>
              <a:rPr lang="en-US" b="1" dirty="0"/>
              <a:t>State Comparison Mechanism</a:t>
            </a:r>
          </a:p>
          <a:p>
            <a:pPr marL="0" lvl="1" indent="0">
              <a:lnSpc>
                <a:spcPct val="110000"/>
              </a:lnSpc>
              <a:buFont typeface="Arial" panose="020B0604020202020204" pitchFamily="34" charset="0"/>
              <a:buNone/>
            </a:pPr>
            <a:r>
              <a:rPr lang="en-US" dirty="0"/>
              <a:t>Terraform compares current resource states with configurations to detect changes and maintain consistency.</a:t>
            </a:r>
          </a:p>
          <a:p>
            <a:pPr marL="0" indent="0">
              <a:lnSpc>
                <a:spcPct val="110000"/>
              </a:lnSpc>
              <a:spcBef>
                <a:spcPts val="2500"/>
              </a:spcBef>
              <a:buFont typeface="Arial" panose="020B0604020202020204" pitchFamily="34" charset="0"/>
              <a:buNone/>
            </a:pPr>
            <a:r>
              <a:rPr lang="en-US" b="1" dirty="0"/>
              <a:t>Automatic Drift Correction</a:t>
            </a:r>
          </a:p>
          <a:p>
            <a:pPr marL="0" lvl="1" indent="0">
              <a:lnSpc>
                <a:spcPct val="110000"/>
              </a:lnSpc>
              <a:buFont typeface="Arial" panose="020B0604020202020204" pitchFamily="34" charset="0"/>
              <a:buNone/>
            </a:pPr>
            <a:r>
              <a:rPr lang="en-US" dirty="0"/>
              <a:t>Terraform tracks all changes and corrects any drift from the desired configuration automatically.</a:t>
            </a:r>
          </a:p>
          <a:p>
            <a:pPr marL="0" indent="0">
              <a:lnSpc>
                <a:spcPct val="110000"/>
              </a:lnSpc>
              <a:spcBef>
                <a:spcPts val="2500"/>
              </a:spcBef>
              <a:buFont typeface="Arial" panose="020B0604020202020204" pitchFamily="34" charset="0"/>
              <a:buNone/>
            </a:pPr>
            <a:r>
              <a:rPr lang="en-US" b="1" dirty="0"/>
              <a:t>Stable Infrastructure Setup</a:t>
            </a:r>
          </a:p>
          <a:p>
            <a:pPr marL="0" lvl="1" indent="0">
              <a:lnSpc>
                <a:spcPct val="110000"/>
              </a:lnSpc>
              <a:buFont typeface="Arial" panose="020B0604020202020204" pitchFamily="34" charset="0"/>
              <a:buNone/>
            </a:pPr>
            <a:r>
              <a:rPr lang="en-US" dirty="0"/>
              <a:t>This behavior supports a stable and predictable infrastructure setup, especially in complex cloud environments.</a:t>
            </a:r>
          </a:p>
        </p:txBody>
      </p:sp>
    </p:spTree>
    <p:extLst>
      <p:ext uri="{BB962C8B-B14F-4D97-AF65-F5344CB8AC3E}">
        <p14:creationId xmlns:p14="http://schemas.microsoft.com/office/powerpoint/2010/main" val="25650285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0B4BD-F882-E74C-686D-D8BCDE83BC32}"/>
              </a:ext>
            </a:extLst>
          </p:cNvPr>
          <p:cNvSpPr>
            <a:spLocks noGrp="1"/>
          </p:cNvSpPr>
          <p:nvPr>
            <p:ph type="title"/>
          </p:nvPr>
        </p:nvSpPr>
        <p:spPr>
          <a:xfrm>
            <a:off x="4848555" y="512011"/>
            <a:ext cx="6792069" cy="1259920"/>
          </a:xfrm>
        </p:spPr>
        <p:txBody>
          <a:bodyPr anchor="b">
            <a:normAutofit/>
          </a:bodyPr>
          <a:lstStyle/>
          <a:p>
            <a:r>
              <a:rPr lang="en-US"/>
              <a:t>Risks &amp; Considerations</a:t>
            </a:r>
          </a:p>
        </p:txBody>
      </p:sp>
      <p:pic>
        <p:nvPicPr>
          <p:cNvPr id="5" name="Content Placeholder 4" descr="Laptop, smart phone and computer service on digital background">
            <a:extLst>
              <a:ext uri="{FF2B5EF4-FFF2-40B4-BE49-F238E27FC236}">
                <a16:creationId xmlns:a16="http://schemas.microsoft.com/office/drawing/2014/main" id="{1279A7DA-ED7E-4292-A0A8-D10FC25ABF86}"/>
              </a:ext>
            </a:extLst>
          </p:cNvPr>
          <p:cNvPicPr>
            <a:picLocks noGrp="1" noChangeAspect="1"/>
          </p:cNvPicPr>
          <p:nvPr>
            <p:ph type="pic" sz="quarter" idx="13"/>
          </p:nvPr>
        </p:nvPicPr>
        <p:blipFill>
          <a:blip r:embed="rId3"/>
          <a:srcRect l="13915" r="18979"/>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D9202A80-51C1-8618-3684-5FF92E6595E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Initial Setup Complexity</a:t>
            </a:r>
          </a:p>
          <a:p>
            <a:pPr marL="0" lvl="1" indent="0">
              <a:lnSpc>
                <a:spcPct val="110000"/>
              </a:lnSpc>
              <a:buFont typeface="Arial" panose="020B0604020202020204" pitchFamily="34" charset="0"/>
              <a:buNone/>
            </a:pPr>
            <a:r>
              <a:t>Setting up Terraform CI/CD pipelines requires managing modules, state, and integration points, which is resource intensive.</a:t>
            </a:r>
            <a:endParaRPr lang="en-US"/>
          </a:p>
          <a:p>
            <a:pPr marL="0" indent="0">
              <a:lnSpc>
                <a:spcPct val="110000"/>
              </a:lnSpc>
              <a:spcBef>
                <a:spcPts val="2500"/>
              </a:spcBef>
              <a:buFont typeface="Arial" panose="020B0604020202020204" pitchFamily="34" charset="0"/>
              <a:buNone/>
            </a:pPr>
            <a:r>
              <a:rPr lang="en-US" b="1"/>
              <a:t>Strict Change Management</a:t>
            </a:r>
          </a:p>
          <a:p>
            <a:pPr marL="0" lvl="1" indent="0">
              <a:lnSpc>
                <a:spcPct val="110000"/>
              </a:lnSpc>
              <a:buFont typeface="Arial" panose="020B0604020202020204" pitchFamily="34" charset="0"/>
              <a:buNone/>
            </a:pPr>
            <a:r>
              <a:t>All infrastructure changes must be done through the pipeline to avoid conflicts with manual updates.</a:t>
            </a:r>
            <a:endParaRPr lang="en-US"/>
          </a:p>
          <a:p>
            <a:pPr marL="0" indent="0">
              <a:lnSpc>
                <a:spcPct val="110000"/>
              </a:lnSpc>
              <a:spcBef>
                <a:spcPts val="2500"/>
              </a:spcBef>
              <a:buFont typeface="Arial" panose="020B0604020202020204" pitchFamily="34" charset="0"/>
              <a:buNone/>
            </a:pPr>
            <a:r>
              <a:rPr lang="en-US" b="1"/>
              <a:t>Risk of State Loss</a:t>
            </a:r>
          </a:p>
          <a:p>
            <a:pPr marL="0" lvl="1" indent="0">
              <a:lnSpc>
                <a:spcPct val="110000"/>
              </a:lnSpc>
              <a:buFont typeface="Arial" panose="020B0604020202020204" pitchFamily="34" charset="0"/>
              <a:buNone/>
            </a:pPr>
            <a:r>
              <a:t>Accidental deletion of Terraform workspace can lead to loss of state and removal of all managed resources.</a:t>
            </a:r>
            <a:endParaRPr lang="en-US"/>
          </a:p>
          <a:p>
            <a:pPr marL="0" indent="0">
              <a:lnSpc>
                <a:spcPct val="110000"/>
              </a:lnSpc>
              <a:spcBef>
                <a:spcPts val="2500"/>
              </a:spcBef>
              <a:buFont typeface="Arial" panose="020B0604020202020204" pitchFamily="34" charset="0"/>
              <a:buNone/>
            </a:pPr>
            <a:r>
              <a:rPr lang="en-US" b="1"/>
              <a:t>Need for Governance</a:t>
            </a:r>
          </a:p>
          <a:p>
            <a:pPr marL="0" lvl="1" indent="0">
              <a:lnSpc>
                <a:spcPct val="110000"/>
              </a:lnSpc>
              <a:buFont typeface="Arial" panose="020B0604020202020204" pitchFamily="34" charset="0"/>
              <a:buNone/>
            </a:pPr>
            <a:r>
              <a:t>Robust planning, backup strategies, and governance are essential to maintain infrastructure integrity.</a:t>
            </a:r>
            <a:endParaRPr lang="en-US"/>
          </a:p>
        </p:txBody>
      </p:sp>
    </p:spTree>
    <p:extLst>
      <p:ext uri="{BB962C8B-B14F-4D97-AF65-F5344CB8AC3E}">
        <p14:creationId xmlns:p14="http://schemas.microsoft.com/office/powerpoint/2010/main" val="16518848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E6B5B-1D48-1C53-038B-4414C763D544}"/>
              </a:ext>
            </a:extLst>
          </p:cNvPr>
          <p:cNvSpPr>
            <a:spLocks noGrp="1"/>
          </p:cNvSpPr>
          <p:nvPr>
            <p:ph type="title"/>
          </p:nvPr>
        </p:nvSpPr>
        <p:spPr>
          <a:xfrm>
            <a:off x="8029814" y="512011"/>
            <a:ext cx="3628786" cy="1259920"/>
          </a:xfrm>
        </p:spPr>
        <p:txBody>
          <a:bodyPr anchor="b">
            <a:normAutofit/>
          </a:bodyPr>
          <a:lstStyle/>
          <a:p>
            <a:r>
              <a:rPr lang="en-US"/>
              <a:t>Conclusion &amp; Roadmap</a:t>
            </a:r>
          </a:p>
        </p:txBody>
      </p:sp>
      <p:pic>
        <p:nvPicPr>
          <p:cNvPr id="5" name="Content Placeholder 4" descr="4K Resolution">
            <a:extLst>
              <a:ext uri="{FF2B5EF4-FFF2-40B4-BE49-F238E27FC236}">
                <a16:creationId xmlns:a16="http://schemas.microsoft.com/office/drawing/2014/main" id="{A0E4CE06-4708-4067-BC80-A708F0A4FD50}"/>
              </a:ext>
            </a:extLst>
          </p:cNvPr>
          <p:cNvPicPr>
            <a:picLocks noGrp="1" noChangeAspect="1"/>
          </p:cNvPicPr>
          <p:nvPr>
            <p:ph type="pic" sz="quarter" idx="13"/>
          </p:nvPr>
        </p:nvPicPr>
        <p:blipFill>
          <a:blip r:embed="rId3"/>
          <a:stretch/>
        </p:blipFill>
        <p:spPr>
          <a:xfrm>
            <a:off x="400352" y="903702"/>
            <a:ext cx="4752220" cy="2837165"/>
          </a:xfrm>
          <a:prstGeom prst="rect">
            <a:avLst/>
          </a:prstGeom>
          <a:noFill/>
        </p:spPr>
      </p:pic>
      <p:sp>
        <p:nvSpPr>
          <p:cNvPr id="4" name="Content Placeholder 3">
            <a:extLst>
              <a:ext uri="{FF2B5EF4-FFF2-40B4-BE49-F238E27FC236}">
                <a16:creationId xmlns:a16="http://schemas.microsoft.com/office/drawing/2014/main" id="{CE535059-A77E-0C9A-2C99-11A3B5C86B2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72399" y="2170611"/>
            <a:ext cx="5987357" cy="4162372"/>
          </a:xfrm>
        </p:spPr>
        <p:txBody>
          <a:bodyPr vert="horz" lIns="91440" tIns="45720" rIns="91440" bIns="45720" rtlCol="0" anchor="t">
            <a:normAutofit/>
          </a:bodyPr>
          <a:lstStyle/>
          <a:p>
            <a:pPr marL="0" indent="0">
              <a:lnSpc>
                <a:spcPct val="110000"/>
              </a:lnSpc>
              <a:spcBef>
                <a:spcPts val="2500"/>
              </a:spcBef>
              <a:buFont typeface="Arial" panose="020B0604020202020204" pitchFamily="34" charset="0"/>
              <a:buNone/>
            </a:pPr>
            <a:r>
              <a:rPr lang="en-US" b="1" dirty="0"/>
              <a:t>Testing for Reliability</a:t>
            </a:r>
          </a:p>
          <a:p>
            <a:pPr marL="0" lvl="1" indent="0">
              <a:lnSpc>
                <a:spcPct val="110000"/>
              </a:lnSpc>
              <a:buFont typeface="Arial" panose="020B0604020202020204" pitchFamily="34" charset="0"/>
              <a:buNone/>
            </a:pPr>
            <a:r>
              <a:rPr lang="en-US" dirty="0"/>
              <a:t>Testing the import module for resources and architect flows ensures the pipeline is reliable and resilient.</a:t>
            </a:r>
          </a:p>
          <a:p>
            <a:pPr marL="0" indent="0">
              <a:lnSpc>
                <a:spcPct val="110000"/>
              </a:lnSpc>
              <a:spcBef>
                <a:spcPts val="2500"/>
              </a:spcBef>
              <a:buFont typeface="Arial" panose="020B0604020202020204" pitchFamily="34" charset="0"/>
              <a:buNone/>
            </a:pPr>
            <a:r>
              <a:rPr lang="en-US" b="1" dirty="0"/>
              <a:t>User Interface Development</a:t>
            </a:r>
          </a:p>
          <a:p>
            <a:pPr marL="0" lvl="1" indent="0">
              <a:lnSpc>
                <a:spcPct val="110000"/>
              </a:lnSpc>
              <a:buFont typeface="Arial" panose="020B0604020202020204" pitchFamily="34" charset="0"/>
              <a:buNone/>
            </a:pPr>
            <a:r>
              <a:rPr lang="en-US" dirty="0"/>
              <a:t>Creating an interface to select and trigger specific flows improves pipeline usability and flexibility.</a:t>
            </a:r>
          </a:p>
          <a:p>
            <a:pPr marL="0" indent="0">
              <a:lnSpc>
                <a:spcPct val="110000"/>
              </a:lnSpc>
              <a:spcBef>
                <a:spcPts val="2500"/>
              </a:spcBef>
              <a:buFont typeface="Arial" panose="020B0604020202020204" pitchFamily="34" charset="0"/>
              <a:buNone/>
            </a:pPr>
            <a:r>
              <a:rPr lang="en-US" b="1" dirty="0"/>
              <a:t>Backup and Risk Management</a:t>
            </a:r>
          </a:p>
          <a:p>
            <a:pPr marL="0" lvl="1" indent="0">
              <a:lnSpc>
                <a:spcPct val="110000"/>
              </a:lnSpc>
              <a:buFont typeface="Arial" panose="020B0604020202020204" pitchFamily="34" charset="0"/>
              <a:buNone/>
            </a:pPr>
            <a:r>
              <a:rPr lang="en-US" dirty="0"/>
              <a:t>Research into edge cases and risks guides the development of a comprehensive backup and implementation plan.</a:t>
            </a:r>
          </a:p>
          <a:p>
            <a:pPr marL="0" indent="0">
              <a:lnSpc>
                <a:spcPct val="110000"/>
              </a:lnSpc>
              <a:spcBef>
                <a:spcPts val="2500"/>
              </a:spcBef>
              <a:buFont typeface="Arial" panose="020B0604020202020204" pitchFamily="34" charset="0"/>
              <a:buNone/>
            </a:pPr>
            <a:r>
              <a:rPr lang="en-US" b="1" dirty="0"/>
              <a:t>Granularity of Control</a:t>
            </a:r>
          </a:p>
          <a:p>
            <a:pPr marL="0" lvl="1" indent="0">
              <a:lnSpc>
                <a:spcPct val="110000"/>
              </a:lnSpc>
              <a:buFont typeface="Arial" panose="020B0604020202020204" pitchFamily="34" charset="0"/>
              <a:buNone/>
            </a:pPr>
            <a:r>
              <a:rPr lang="en-US" dirty="0"/>
              <a:t>Decisions on control levels define whether changes apply division-wide, by flow class, or individually.</a:t>
            </a:r>
          </a:p>
        </p:txBody>
      </p:sp>
    </p:spTree>
    <p:extLst>
      <p:ext uri="{BB962C8B-B14F-4D97-AF65-F5344CB8AC3E}">
        <p14:creationId xmlns:p14="http://schemas.microsoft.com/office/powerpoint/2010/main" val="39743160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2073</Words>
  <Application>Microsoft Office PowerPoint</Application>
  <PresentationFormat>Widescreen</PresentationFormat>
  <Paragraphs>69</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Nova Light</vt:lpstr>
      <vt:lpstr>Calibri</vt:lpstr>
      <vt:lpstr>Univers Condensed</vt:lpstr>
      <vt:lpstr>Lines</vt:lpstr>
      <vt:lpstr>Genesys CI/CD Pipeline Using Terraform CLOUD</vt:lpstr>
      <vt:lpstr>Overview</vt:lpstr>
      <vt:lpstr>CI/CD Pipeline Flow </vt:lpstr>
      <vt:lpstr>DEMO</vt:lpstr>
      <vt:lpstr>Initial Deployment Process</vt:lpstr>
      <vt:lpstr>Terraform Behavior</vt:lpstr>
      <vt:lpstr>Risks &amp; Considerations</vt:lpstr>
      <vt:lpstr>Conclusion &amp; Roadmap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Bawake,H. (Harshvardhan)</dc:creator>
  <cp:lastModifiedBy>Bawake,H. (Harshvardhan)</cp:lastModifiedBy>
  <cp:revision>40</cp:revision>
  <dcterms:created xsi:type="dcterms:W3CDTF">2025-08-26T13:55:07Z</dcterms:created>
  <dcterms:modified xsi:type="dcterms:W3CDTF">2026-02-09T10:54:27Z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1402931-ee1f-401a-a3a4-d813c808f41c_Enabled">
    <vt:lpwstr>true</vt:lpwstr>
  </property>
  <property fmtid="{D5CDD505-2E9C-101B-9397-08002B2CF9AE}" pid="3" name="MSIP_Label_01402931-ee1f-401a-a3a4-d813c808f41c_SetDate">
    <vt:lpwstr>2025-08-26T14:42:05Z</vt:lpwstr>
  </property>
  <property fmtid="{D5CDD505-2E9C-101B-9397-08002B2CF9AE}" pid="4" name="MSIP_Label_01402931-ee1f-401a-a3a4-d813c808f41c_Method">
    <vt:lpwstr>Standard</vt:lpwstr>
  </property>
  <property fmtid="{D5CDD505-2E9C-101B-9397-08002B2CF9AE}" pid="5" name="MSIP_Label_01402931-ee1f-401a-a3a4-d813c808f41c_Name">
    <vt:lpwstr>Restricted - Business Information</vt:lpwstr>
  </property>
  <property fmtid="{D5CDD505-2E9C-101B-9397-08002B2CF9AE}" pid="6" name="MSIP_Label_01402931-ee1f-401a-a3a4-d813c808f41c_SiteId">
    <vt:lpwstr>e3054106-a46a-4dc0-b86d-2ba84a24cdc4</vt:lpwstr>
  </property>
  <property fmtid="{D5CDD505-2E9C-101B-9397-08002B2CF9AE}" pid="7" name="MSIP_Label_01402931-ee1f-401a-a3a4-d813c808f41c_ActionId">
    <vt:lpwstr>232720c0-fe7b-401b-987f-55c3d8ee3adf</vt:lpwstr>
  </property>
  <property fmtid="{D5CDD505-2E9C-101B-9397-08002B2CF9AE}" pid="8" name="MSIP_Label_01402931-ee1f-401a-a3a4-d813c808f41c_ContentBits">
    <vt:lpwstr>0</vt:lpwstr>
  </property>
  <property fmtid="{D5CDD505-2E9C-101B-9397-08002B2CF9AE}" pid="9" name="MSIP_Label_01402931-ee1f-401a-a3a4-d813c808f41c_Tag">
    <vt:lpwstr>10, 3, 0, 2</vt:lpwstr>
  </property>
</Properties>
</file>